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828800"/>
            <a:ext cx="5486400" cy="5486400"/>
          </a:xfrm>
          <a:prstGeom prst="ellipse">
            <a:avLst/>
          </a:prstGeom>
          <a:solidFill>
            <a:srgbClr val="1C7293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389120"/>
            <a:ext cx="4572000" cy="4572000"/>
          </a:xfrm>
          <a:prstGeom prst="ellipse">
            <a:avLst/>
          </a:prstGeom>
          <a:solidFill>
            <a:srgbClr val="065A82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Storytelling &amp;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Validation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703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analysis into a business narrative — and proving it with statistics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663440"/>
            <a:ext cx="0" cy="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ApexPlanet Software Pvt. Ltd.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Data Analytics Internship  |  Dataset: 5,000 Orders (2023-2024)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92640" y="59893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 Sri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Story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chapters connecting Tasks 1-3 into one narrative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25880" y="14630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Scene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794760" y="1463040"/>
            <a:ext cx="7772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orders analysed across 2023-2024, generating Rs.6.29 Cr in total revenue from delivered orders.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532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25880" y="248716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94760" y="2487168"/>
            <a:ext cx="7772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Month-1 retention is only 6%. Beauty has a 10.4% return rate. Cancellation rate sits at 10.1%.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5570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511296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94760" y="3511296"/>
            <a:ext cx="7772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consistently spikes (festive season). Mobile App leads revenue. 36-45 age group has the highest AOV.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58114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581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25880" y="4535424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794760" y="4535424"/>
            <a:ext cx="7772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Post-purchase email flows, review Beauty listings, invest in Mobile App UX, plan festive campaigns early, target premium segment.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60527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605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325880" y="555955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to Action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794760" y="5559552"/>
            <a:ext cx="7772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retention first - raising Month-1 retention from 6% to 12% would roughly double repeat revenue.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1: The Revenue Journey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months of revenue tell a clear seasonal story</a:t>
            </a:r>
            <a:endParaRPr lang="en-US" sz="1400" dirty="0"/>
          </a:p>
        </p:txBody>
      </p:sp>
      <p:pic>
        <p:nvPicPr>
          <p:cNvPr id="4" name="Image 0" descr="outputs/story_revenue_journe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17320"/>
            <a:ext cx="7406640" cy="2651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321040" y="1463040"/>
            <a:ext cx="3200400" cy="777240"/>
          </a:xfrm>
          <a:prstGeom prst="roundRect">
            <a:avLst>
              <a:gd name="adj" fmla="val 9412"/>
            </a:avLst>
          </a:prstGeom>
          <a:solidFill>
            <a:srgbClr val="EAF4F8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49640" y="153619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Rs.6.29 Cr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549640" y="19202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321040" y="2423160"/>
            <a:ext cx="3200400" cy="777240"/>
          </a:xfrm>
          <a:prstGeom prst="roundRect">
            <a:avLst>
              <a:gd name="adj" fmla="val 9412"/>
            </a:avLst>
          </a:prstGeom>
          <a:solidFill>
            <a:srgbClr val="EAF4F8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49640" y="249631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549640" y="2880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Month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321040" y="3383280"/>
            <a:ext cx="3200400" cy="777240"/>
          </a:xfrm>
          <a:prstGeom prst="roundRect">
            <a:avLst>
              <a:gd name="adj" fmla="val 9412"/>
            </a:avLst>
          </a:prstGeom>
          <a:solidFill>
            <a:srgbClr val="EAF4F8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549640" y="345643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549640" y="38404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" y="434340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EAF4F8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554480" y="4480560"/>
            <a:ext cx="96926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rises through the year with a sharp spike in October, driven by festive-season demand (Diwali/Dussehra). This pattern repeats in both 2023 and 2024, suggesting a reliable seasonal trend that can be planned for in advance.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2 &amp; 3: The Problem and The Opportunity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 Funnel</a:t>
            </a:r>
            <a:endParaRPr lang="en-US" sz="1600" dirty="0"/>
          </a:p>
        </p:txBody>
      </p:sp>
      <p:pic>
        <p:nvPicPr>
          <p:cNvPr id="4" name="Image 0" descr="outputs/story_customer_funn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5486400" cy="2377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09360" y="1051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Opportunity Matrix</a:t>
            </a:r>
            <a:endParaRPr lang="en-US" sz="1600" dirty="0"/>
          </a:p>
        </p:txBody>
      </p:sp>
      <p:pic>
        <p:nvPicPr>
          <p:cNvPr id="6" name="Image 1" descr="outputs/story_opportunity_matri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09360" y="1463040"/>
            <a:ext cx="5486400" cy="2377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41148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EAF4F8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68680" y="43434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434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08760" y="42519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 Month-1 Retention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508760" y="4617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of customers never reorder the next month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4343400" y="41148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EAF4F8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572000" y="43434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4348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212080" y="42519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Return Rate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5212080" y="4617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category has the highest returns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8046720" y="411480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EAF4F8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275320" y="43434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4434840"/>
            <a:ext cx="274320" cy="27432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915400" y="42519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10.1% Cancellation Rate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8915400" y="4617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10 orders is cancelled before delivery</a:t>
            </a:r>
            <a:endParaRPr lang="en-US" sz="1150" dirty="0"/>
          </a:p>
        </p:txBody>
      </p:sp>
      <p:sp>
        <p:nvSpPr>
          <p:cNvPr id="22" name="Text 15"/>
          <p:cNvSpPr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the highest-revenue segments (Mobile App, 36-45 age group, October) are also where the biggest gaps (retention, returns, cancellations) sit - fixing these gaps compounds the existing strengths.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371600"/>
            <a:ext cx="3657600" cy="3657600"/>
          </a:xfrm>
          <a:prstGeom prst="ellipse">
            <a:avLst/>
          </a:prstGeom>
          <a:solidFill>
            <a:srgbClr val="1C7293">
              <a:alpha val="2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Hypothesis Testing - Validating the Story with Statistics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28016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business hypotheses were tested using T-Tests and a Chi-Squared test (alpha = 0.05)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2377440"/>
        </p:xfrm>
        <a:graphic>
          <a:graphicData uri="http://schemas.openxmlformats.org/drawingml/2006/table">
            <a:tbl>
              <a:tblPr/>
              <a:tblGrid>
                <a:gridCol w="5120640"/>
                <a:gridCol w="1828800"/>
                <a:gridCol w="14630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H1: Mobile App AOV &gt; Website AOV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1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1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1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7CE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Significant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1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H2: 36-45 AOV &gt; 18-25 AOV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7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7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7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7CE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Significant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7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H3: Cancellation rate differs by channel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1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Chi-Squared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1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1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7CE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Significant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1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H4: October AOV &gt; Other months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7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7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7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BE2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76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" y="434340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2C3768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554480" y="4480560"/>
            <a:ext cx="96926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statistical finding: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H4 is statistically significant (p = 0.0075 &lt; 0.05). This proves the October revenue spike is a real, repeatable seasonal pattern - not random variation - and justifies investing in festive-season campaigns ahead of time. The other three hypotheses (channel AOV, age-group AOV, channel cancellation) show differences in the raw numbers, but those differences are not statistically significant at the 5% level - meaning they could be due to chance.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Hypothesis Testing - Visual Comparison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(Mobile App vs Website AOV) and H3 (Cancellation rate by channel)</a:t>
            </a:r>
            <a:endParaRPr lang="en-US" sz="1400" dirty="0"/>
          </a:p>
        </p:txBody>
      </p:sp>
      <p:pic>
        <p:nvPicPr>
          <p:cNvPr id="4" name="Image 0" descr="outputs/hypothesis_testing_char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17320"/>
            <a:ext cx="1051560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5778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EAF4F8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80644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508760" y="5669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charts: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App's average order value (Rs.20,332) is visibly higher than Website's (Rs.18,513), and Mobile App also shows the highest cancellation rate (11.0%) among channels - but neither difference clears the p &lt; 0.05 bar, so larger sample sizes or longer time windows would be needed to confirm these patterns.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4: Recommendations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 to convert insight into business impact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AF4F8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10512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62763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Month-1 Retention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00200" y="2011680"/>
            <a:ext cx="43434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a 30-day post-purchase email sequence with personalised recommendations to lift retention from 6% toward 12-15%.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55080" y="14630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AF4F8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16916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181051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62763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Beauty Returns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315200" y="2011680"/>
            <a:ext cx="43434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product descriptions, sizing guides and images for the Beauty category to bring the 10.4% return rate down.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2461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AF4F8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3474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59359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341071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Mobile App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00200" y="3794760"/>
            <a:ext cx="43434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drives the most revenue (Rs.2.14 Cr) - prioritise app UX improvements and push-notification campaigns.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55080" y="32461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AF4F8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83680" y="3474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359359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341071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Festive Campaigns Early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315200" y="3794760"/>
            <a:ext cx="43434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October's spike is statistically proven (p=0.0075) - prepare inventory and marketing 4 weeks ahead of the festive season.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50292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AF4F8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68680" y="5257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376672"/>
            <a:ext cx="310896" cy="31089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00200" y="519379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the Premium Segment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1600200" y="5577840"/>
            <a:ext cx="43434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36-45 age group has the highest AOV (Rs.20,641) - create premium product bundles aimed at this group.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355080" y="50292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065A8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525780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223760" y="5193792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priority: Fix retention first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7223760" y="5596128"/>
            <a:ext cx="4434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five actions, improving Month-1 retention has the largest compounding effect on long-term revenue.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1C729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065A82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5: Call to Action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10515600" cy="1554480"/>
          </a:xfrm>
          <a:prstGeom prst="roundRect">
            <a:avLst>
              <a:gd name="adj" fmla="val 5882"/>
            </a:avLst>
          </a:prstGeom>
          <a:solidFill>
            <a:srgbClr val="2C3768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691640"/>
            <a:ext cx="9784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A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Increasing Month-1 retention from 6% to 12% would roughly </a:t>
            </a:r>
            <a:pPr indent="0" marL="0">
              <a:buNone/>
            </a:pPr>
            <a:r>
              <a:rPr lang="en-US" sz="2000" b="1" i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 repeat revenue</a:t>
            </a:r>
            <a:pPr indent="0" marL="0">
              <a:buNone/>
            </a:pPr>
            <a:r>
              <a:rPr lang="en-US" sz="2000" i="1" dirty="0">
                <a:solidFill>
                  <a:srgbClr val="EA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- the single highest-impact action available from this analysis.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Rs.6.29 Cr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4114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20440" y="34747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520440" y="4114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Month-1 Retention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17920" y="34747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Spike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0" y="4114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Proven Trend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915400" y="34747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36-45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915400" y="4114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completed: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1 - Data Wrangling   |   Task 2 - EDA &amp; BI   |   Task 3 - Deep-Dive &amp; Power BI Dashboard   |   Task 4 - Storytelling &amp; Hypothesis Testing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ApexPlanet Software Pvt. Ltd.  |  60-Day Data Analytics Internship  |  Devi Sri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4 - Data Storytelling &amp; Statistical Validation</dc:title>
  <dc:subject>PptxGenJS Presentation</dc:subject>
  <dc:creator>Devi Sri</dc:creator>
  <cp:lastModifiedBy>Devi Sri</cp:lastModifiedBy>
  <cp:revision>1</cp:revision>
  <dcterms:created xsi:type="dcterms:W3CDTF">2026-06-14T04:18:55Z</dcterms:created>
  <dcterms:modified xsi:type="dcterms:W3CDTF">2026-06-14T04:18:55Z</dcterms:modified>
</cp:coreProperties>
</file>